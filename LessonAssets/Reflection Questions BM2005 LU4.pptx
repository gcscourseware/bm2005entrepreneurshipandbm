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316E-F2A4-63AF-EDCE-1D9822FDA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2524E-1063-547C-2C21-D08B65642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EA1CA-FFF4-BF13-24D9-01089C311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1BBF-661F-488D-97CF-54A5F72F1069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44373-FB37-E1BA-63F2-7FA1155F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C8210-2910-9664-0129-D683E661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127A-C0EB-4E21-86EB-00D3BCF01A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397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244E-2D25-E126-8132-3FEBB2E9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A14B4-A0C4-7385-DC3C-E2B4DD752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928E9-AEC1-D377-DB9E-B36CC9F1E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1BBF-661F-488D-97CF-54A5F72F1069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CDDAF-E587-2035-7D1D-F6B76D7E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5AB36-901D-9C37-E768-AD0B48B0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127A-C0EB-4E21-86EB-00D3BCF01A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824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A1F2E-01A8-C609-3314-379E366FA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457C9-8B54-6DED-16C5-775C5E2AD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6F8BA-F14D-FD8C-4F2C-71FC14F3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1BBF-661F-488D-97CF-54A5F72F1069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E7C63-6AB3-2C86-6AA8-94B33FD8D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382E5-6814-A2D3-B86E-BF68600CF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127A-C0EB-4E21-86EB-00D3BCF01A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904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F1D8-A154-752C-D348-2069F516F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F27A0-78EA-20EE-B227-46C17544C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9D0422-6357-C162-3939-77FAE4ECC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D7537-EA5D-1541-1E7D-89D4ADDF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1BBF-661F-488D-97CF-54A5F72F1069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3E5D3-A110-4E09-B37D-3E99FF48D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0E117-A3BA-D134-605E-0D4D2B09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127A-C0EB-4E21-86EB-00D3BCF01A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549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5A1F-8C86-C359-2A65-9EDA6951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0A172-FFBD-690A-9DE4-F27D50C60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A1B66-B566-98C8-445C-9FB9E2438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A5618-3BE8-4D9D-4D70-88B47CB99C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49C10-64C2-7993-49BB-674223FC0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D9039-5F87-7DE1-FA8B-64D9E4CF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1BBF-661F-488D-97CF-54A5F72F1069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05003-DE6E-96B6-2F40-EA723D40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70A0B-1702-080F-716E-05FF5539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127A-C0EB-4E21-86EB-00D3BCF01A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103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2F3BA-507E-4953-DFF3-989CFE0F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64F12-5B93-05DE-14E9-DF3EEA94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1BBF-661F-488D-97CF-54A5F72F1069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E311F-321C-7A66-76E0-2B465F03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FEE7E-F2AB-0291-4AD7-8CBE7C0E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127A-C0EB-4E21-86EB-00D3BCF01A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5949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B612A0-BEFD-3933-E00E-9D2EC106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1BBF-661F-488D-97CF-54A5F72F1069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476A37-77B8-796C-FC1F-41E75ADA4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847B3-7EEA-59C4-4FBE-EE39FEC5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127A-C0EB-4E21-86EB-00D3BCF01A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8854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066E4-EB47-B297-F68E-C702F8357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0339D-0568-F57C-C9A4-84CBBB728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62E76-59AF-739D-D81E-D4A59B8F1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A7D6D-D998-B1F7-2285-EF6CD60B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1BBF-661F-488D-97CF-54A5F72F1069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62529-FC88-43D3-C786-F65EFD85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7F125-2B29-1DB6-135D-075A13A2E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127A-C0EB-4E21-86EB-00D3BCF01A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2481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DEF1-18DC-2F8B-6799-543770077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A5DA13-511E-70C1-62FF-516C79F64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0BEF6-650C-E025-F278-A2AC357EC2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5A752-8455-8782-6BFE-FED5982DD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1BBF-661F-488D-97CF-54A5F72F1069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0052D-331E-11CF-FE2C-E1FBABB7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3C031-6272-AA24-84FC-E25C618A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127A-C0EB-4E21-86EB-00D3BCF01A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074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16190-5BB8-D648-3622-6711CFDE9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8B57F-DDB2-9561-2959-C34604BC1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142E1-65D4-F7FD-2326-8141A3872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1BBF-661F-488D-97CF-54A5F72F1069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7A8A2-E013-D970-CB8C-C4A4D7404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1AEC1-CF09-D291-0BDB-B037A157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127A-C0EB-4E21-86EB-00D3BCF01A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883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555286-D787-63D2-4512-8371348F6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1361D-3361-C3ED-F8F9-783A2F76F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5CA6B-1E8F-F074-6854-119182FE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F1BBF-661F-488D-97CF-54A5F72F1069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13094-503F-C33D-5616-98CD2F5F0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9DEEE-FD45-1CFA-3A5D-EB728B90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A127A-C0EB-4E21-86EB-00D3BCF01A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099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F573B-8C39-45B7-717A-0A0EB906A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889C3-A76F-03D1-339D-DD63B6F1E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310F9-1E1F-18C4-9B61-5C9DA16649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CF1BBF-661F-488D-97CF-54A5F72F1069}" type="datetimeFigureOut">
              <a:rPr lang="en-SG" smtClean="0"/>
              <a:t>20/4/2026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7FFE3-D8F4-2261-1872-9FBE3F8F5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05A66-CA4B-7EFE-42E1-ACCBC7B58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A127A-C0EB-4E21-86EB-00D3BCF01AB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7198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A8748-E8EC-C75E-CF76-97884F8B6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Reflection Questions LU4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3A887A-786A-9FA2-4047-66ECB9C5F0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95462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938E-5AD0-4491-C8D9-0E46C3F54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growth strategy effective?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E1EB7-83E2-C71F-36DF-72F049B64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 effective growth strategy is:</a:t>
            </a:r>
          </a:p>
          <a:p>
            <a:r>
              <a:rPr lang="en-US" b="1" dirty="0"/>
              <a:t>Targeted</a:t>
            </a:r>
            <a:r>
              <a:rPr lang="en-US" dirty="0"/>
              <a:t> – focuses on a clearly defined customer segment </a:t>
            </a:r>
          </a:p>
          <a:p>
            <a:r>
              <a:rPr lang="en-US" b="1" dirty="0"/>
              <a:t>Scalable</a:t>
            </a:r>
            <a:r>
              <a:rPr lang="en-US" dirty="0"/>
              <a:t> – can grow without proportionally increasing costs </a:t>
            </a:r>
          </a:p>
          <a:p>
            <a:r>
              <a:rPr lang="en-US" b="1" dirty="0"/>
              <a:t>Data-driven</a:t>
            </a:r>
            <a:r>
              <a:rPr lang="en-US" dirty="0"/>
              <a:t> – based on user behavior, analytics, or market trends </a:t>
            </a:r>
          </a:p>
          <a:p>
            <a:r>
              <a:rPr lang="en-US" b="1" dirty="0"/>
              <a:t>Sustainable</a:t>
            </a:r>
            <a:r>
              <a:rPr lang="en-US" dirty="0"/>
              <a:t> – avoids short-term hacks that harm long-term value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Example: Expanding into a new geographic market with proven demand rather than randomly adding products.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76708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34DEB-43D1-53D8-CE7C-915F0BC8F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digital marketing channel is most effective and why?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14784-4DCB-8183-E6F5-EB14E541F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is no single “best” channel—it depends on the business:</a:t>
            </a:r>
          </a:p>
          <a:p>
            <a:r>
              <a:rPr lang="en-US" b="1" dirty="0"/>
              <a:t>SEO &amp; Content Marketing</a:t>
            </a:r>
            <a:r>
              <a:rPr lang="en-US" dirty="0"/>
              <a:t> → Best for long-term, low-cost traffic </a:t>
            </a:r>
          </a:p>
          <a:p>
            <a:r>
              <a:rPr lang="en-US" b="1" dirty="0"/>
              <a:t>Paid Ads (Google/Meta/TikTok)</a:t>
            </a:r>
            <a:r>
              <a:rPr lang="en-US" dirty="0"/>
              <a:t> → Fast results and scalable reach </a:t>
            </a:r>
          </a:p>
          <a:p>
            <a:r>
              <a:rPr lang="en-US" b="1" dirty="0"/>
              <a:t>Email Marketing</a:t>
            </a:r>
            <a:r>
              <a:rPr lang="en-US" dirty="0"/>
              <a:t> → High ROI for retention and repeat sales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Strong answer:</a:t>
            </a:r>
            <a:br>
              <a:rPr lang="en-US" dirty="0"/>
            </a:br>
            <a:r>
              <a:rPr lang="en-US" dirty="0"/>
              <a:t>“A mix of paid ads for acquisition and email marketing for retention is most effective.”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54922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CFA19-CCE6-3238-1612-FB1906B1E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automation important in scaling operations?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0098E-F9A4-B871-373E-8ECB2203C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Automation:</a:t>
            </a:r>
          </a:p>
          <a:p>
            <a:r>
              <a:rPr lang="en-US" dirty="0"/>
              <a:t>Reduces </a:t>
            </a:r>
            <a:r>
              <a:rPr lang="en-US" b="1" dirty="0"/>
              <a:t>manual work and human error</a:t>
            </a:r>
            <a:r>
              <a:rPr lang="en-US" dirty="0"/>
              <a:t> </a:t>
            </a:r>
          </a:p>
          <a:p>
            <a:r>
              <a:rPr lang="en-US" dirty="0"/>
              <a:t>Improves </a:t>
            </a:r>
            <a:r>
              <a:rPr lang="en-US" b="1" dirty="0"/>
              <a:t>efficiency and speed</a:t>
            </a:r>
            <a:r>
              <a:rPr lang="en-US" dirty="0"/>
              <a:t> </a:t>
            </a:r>
          </a:p>
          <a:p>
            <a:r>
              <a:rPr lang="en-US" dirty="0"/>
              <a:t>Supports </a:t>
            </a:r>
            <a:r>
              <a:rPr lang="en-US" b="1" dirty="0"/>
              <a:t>handling larger volumes without hiring more staff</a:t>
            </a:r>
            <a:r>
              <a:rPr lang="en-US" dirty="0"/>
              <a:t> </a:t>
            </a:r>
          </a:p>
          <a:p>
            <a:r>
              <a:rPr lang="en-US" dirty="0"/>
              <a:t>Ensures </a:t>
            </a:r>
            <a:r>
              <a:rPr lang="en-US" b="1" dirty="0"/>
              <a:t>consistency in processes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Using CRM systems to automatically send follow-up emails instead of manual outreach.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9501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40FE1-F193-A944-D5E1-0EA5EBC46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risks of scaling too quickly?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C4ACA-9B96-40F4-5549-106B7B312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Decline in </a:t>
            </a:r>
            <a:r>
              <a:rPr lang="en-US" b="1" dirty="0"/>
              <a:t>product/service quality</a:t>
            </a:r>
            <a:r>
              <a:rPr lang="en-US" dirty="0"/>
              <a:t> </a:t>
            </a:r>
          </a:p>
          <a:p>
            <a:r>
              <a:rPr lang="en-US" dirty="0"/>
              <a:t>Poor </a:t>
            </a:r>
            <a:r>
              <a:rPr lang="en-US" b="1" dirty="0"/>
              <a:t>customer experience</a:t>
            </a:r>
            <a:r>
              <a:rPr lang="en-US" dirty="0"/>
              <a:t> </a:t>
            </a:r>
          </a:p>
          <a:p>
            <a:r>
              <a:rPr lang="en-US" dirty="0"/>
              <a:t>Operational overload (e.g., delays, errors) </a:t>
            </a:r>
          </a:p>
          <a:p>
            <a:r>
              <a:rPr lang="en-US" dirty="0"/>
              <a:t>Increased </a:t>
            </a:r>
            <a:r>
              <a:rPr lang="en-US" b="1" dirty="0"/>
              <a:t>costs without stable revenue</a:t>
            </a:r>
            <a:r>
              <a:rPr lang="en-US" dirty="0"/>
              <a:t> </a:t>
            </a:r>
          </a:p>
          <a:p>
            <a:r>
              <a:rPr lang="en-US" dirty="0"/>
              <a:t>Team burnout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Strong insight:</a:t>
            </a:r>
            <a:br>
              <a:rPr lang="en-US" dirty="0"/>
            </a:br>
            <a:r>
              <a:rPr lang="en-US" dirty="0"/>
              <a:t>“Growth without systems leads to chaos.”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24569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A159A-41D2-C375-7A8D-49AE5A4F2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businesses turn customers into loyal advocates?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06934-C7E2-4650-0DB5-E3DA27393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</a:t>
            </a:r>
            <a:r>
              <a:rPr lang="en-US" b="1" dirty="0"/>
              <a:t>excellent customer experience</a:t>
            </a:r>
            <a:r>
              <a:rPr lang="en-US" dirty="0"/>
              <a:t> </a:t>
            </a:r>
          </a:p>
          <a:p>
            <a:r>
              <a:rPr lang="en-US" dirty="0"/>
              <a:t>Offer </a:t>
            </a:r>
            <a:r>
              <a:rPr lang="en-US" b="1" dirty="0"/>
              <a:t>loyalty programs or rewards</a:t>
            </a:r>
            <a:r>
              <a:rPr lang="en-US" dirty="0"/>
              <a:t> </a:t>
            </a:r>
          </a:p>
          <a:p>
            <a:r>
              <a:rPr lang="en-US" dirty="0"/>
              <a:t>Personalize communication </a:t>
            </a:r>
          </a:p>
          <a:p>
            <a:r>
              <a:rPr lang="en-US" dirty="0"/>
              <a:t>Encourage </a:t>
            </a:r>
            <a:r>
              <a:rPr lang="en-US" b="1" dirty="0"/>
              <a:t>reviews, referrals, and community building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Referral programs where customers earn discounts for inviting friends.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55736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07FD-6FDD-39AD-7033-AD9083DBB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Activity (Model Outputs)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53462-14BF-E7BE-52A1-677EDC9D3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Growth Strategy</a:t>
            </a:r>
          </a:p>
          <a:p>
            <a:pPr marL="0" indent="0">
              <a:buNone/>
            </a:pPr>
            <a:r>
              <a:rPr lang="en-US" b="1" dirty="0"/>
              <a:t>Answer:</a:t>
            </a:r>
            <a:endParaRPr lang="en-US" dirty="0"/>
          </a:p>
          <a:p>
            <a:r>
              <a:rPr lang="en-US" dirty="0"/>
              <a:t>Expand into </a:t>
            </a:r>
            <a:r>
              <a:rPr lang="en-US" b="1" dirty="0"/>
              <a:t>Southeast Asian markets (Malaysia, Indonesia)</a:t>
            </a:r>
            <a:r>
              <a:rPr lang="en-US" dirty="0"/>
              <a:t> </a:t>
            </a:r>
          </a:p>
          <a:p>
            <a:r>
              <a:rPr lang="en-US" dirty="0"/>
              <a:t>Introduce </a:t>
            </a:r>
            <a:r>
              <a:rPr lang="en-US" b="1" dirty="0"/>
              <a:t>new product lines (eco-friendly clothing)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Why effective:</a:t>
            </a:r>
            <a:endParaRPr lang="en-US" dirty="0"/>
          </a:p>
          <a:p>
            <a:r>
              <a:rPr lang="en-US" dirty="0"/>
              <a:t>Targets similar demographics </a:t>
            </a:r>
          </a:p>
          <a:p>
            <a:r>
              <a:rPr lang="en-US" dirty="0"/>
              <a:t>Builds on existing brand identity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70443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86CD0-53AC-F2D2-7620-081C6898B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B05D1-56C6-1B57-3089-1B6158A2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Activity (Model Outputs)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FB56B-847E-A26B-4785-194E59224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b="1" dirty="0"/>
              <a:t>2. Digital Marketing Plan</a:t>
            </a:r>
          </a:p>
          <a:p>
            <a:pPr marL="0" indent="0">
              <a:buNone/>
            </a:pPr>
            <a:r>
              <a:rPr lang="en-SG" b="1" dirty="0"/>
              <a:t>Answer:</a:t>
            </a:r>
            <a:endParaRPr lang="en-SG" dirty="0"/>
          </a:p>
          <a:p>
            <a:r>
              <a:rPr lang="en-SG" b="1" dirty="0"/>
              <a:t>TikTok Ads</a:t>
            </a:r>
            <a:r>
              <a:rPr lang="en-SG" dirty="0"/>
              <a:t> → Short-form viral content </a:t>
            </a:r>
          </a:p>
          <a:p>
            <a:r>
              <a:rPr lang="en-SG" b="1" dirty="0"/>
              <a:t>Instagram Influencers</a:t>
            </a:r>
            <a:r>
              <a:rPr lang="en-SG" dirty="0"/>
              <a:t> → Social proof </a:t>
            </a:r>
          </a:p>
          <a:p>
            <a:r>
              <a:rPr lang="en-SG" b="1" dirty="0"/>
              <a:t>Email Marketing</a:t>
            </a:r>
            <a:r>
              <a:rPr lang="en-SG" dirty="0"/>
              <a:t> → Promotions &amp; retention </a:t>
            </a:r>
          </a:p>
          <a:p>
            <a:pPr marL="0" indent="0">
              <a:buNone/>
            </a:pPr>
            <a:endParaRPr lang="en-SG" b="1" dirty="0"/>
          </a:p>
          <a:p>
            <a:pPr marL="0" indent="0">
              <a:buNone/>
            </a:pPr>
            <a:r>
              <a:rPr lang="en-SG" b="1" dirty="0"/>
              <a:t>Campaign Idea:</a:t>
            </a:r>
            <a:br>
              <a:rPr lang="en-SG" dirty="0"/>
            </a:br>
            <a:r>
              <a:rPr lang="en-SG" dirty="0"/>
              <a:t>“#StyleUnder50 Challenge” – users showcase outfits under $50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06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D8A0A-4029-16F2-FAA5-181D08CE9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3CF18-62B2-F2D5-9744-BBDA026A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Activity (Model Outputs)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12CF4-1437-E4B8-609A-90DD9E4AC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Operations Scaling</a:t>
            </a:r>
          </a:p>
          <a:p>
            <a:pPr marL="0" indent="0">
              <a:buNone/>
            </a:pPr>
            <a:r>
              <a:rPr lang="en-US" b="1" dirty="0"/>
              <a:t>Answer: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automation tools</a:t>
            </a:r>
            <a:r>
              <a:rPr lang="en-US" dirty="0"/>
              <a:t> (inventory management system) </a:t>
            </a:r>
          </a:p>
          <a:p>
            <a:r>
              <a:rPr lang="en-US" dirty="0"/>
              <a:t>Outsource </a:t>
            </a:r>
            <a:r>
              <a:rPr lang="en-US" b="1" dirty="0"/>
              <a:t>logistics and delivery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Automation Example:</a:t>
            </a:r>
            <a:br>
              <a:rPr lang="en-US" dirty="0"/>
            </a:br>
            <a:r>
              <a:rPr lang="en-US" dirty="0"/>
              <a:t>Auto-update stock levels and notify customers of restocks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37204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15DAF-74B5-9B24-DA6D-5CAD703A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1065F-EE45-3E7A-22C9-2FFA7D660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Activity (Model Outputs)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C2010-2E46-6B76-89F4-7FE32BD82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4. Customer Retention</a:t>
            </a:r>
          </a:p>
          <a:p>
            <a:pPr marL="0" indent="0">
              <a:buNone/>
            </a:pPr>
            <a:r>
              <a:rPr lang="en-US" b="1" dirty="0"/>
              <a:t>Answer:</a:t>
            </a:r>
            <a:endParaRPr lang="en-US" dirty="0"/>
          </a:p>
          <a:p>
            <a:r>
              <a:rPr lang="en-US" dirty="0"/>
              <a:t>Loyalty points system (earn points per purchase) </a:t>
            </a:r>
          </a:p>
          <a:p>
            <a:r>
              <a:rPr lang="en-US" dirty="0"/>
              <a:t>Personalized recommendations via email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Loyalty Idea:</a:t>
            </a:r>
            <a:br>
              <a:rPr lang="en-US" dirty="0"/>
            </a:br>
            <a:r>
              <a:rPr lang="en-US" dirty="0"/>
              <a:t>“VIP Members Club” with early access to new collections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30455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453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Reflection Questions LU4</vt:lpstr>
      <vt:lpstr>What makes a growth strategy effective?</vt:lpstr>
      <vt:lpstr>Which digital marketing channel is most effective and why?</vt:lpstr>
      <vt:lpstr>Why is automation important in scaling operations?</vt:lpstr>
      <vt:lpstr>What are the risks of scaling too quickly?</vt:lpstr>
      <vt:lpstr>How can businesses turn customers into loyal advocates?</vt:lpstr>
      <vt:lpstr>Group Activity (Model Outputs)</vt:lpstr>
      <vt:lpstr>Group Activity (Model Outputs)</vt:lpstr>
      <vt:lpstr>Group Activity (Model Outputs)</vt:lpstr>
      <vt:lpstr>Group Activity (Model Outputs)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12</cp:revision>
  <dcterms:created xsi:type="dcterms:W3CDTF">2026-04-20T00:34:39Z</dcterms:created>
  <dcterms:modified xsi:type="dcterms:W3CDTF">2026-04-20T02:31:41Z</dcterms:modified>
</cp:coreProperties>
</file>
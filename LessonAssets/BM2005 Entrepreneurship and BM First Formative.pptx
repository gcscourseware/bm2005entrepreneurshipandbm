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9" r:id="rId2"/>
    <p:sldId id="352" r:id="rId3"/>
    <p:sldId id="311" r:id="rId4"/>
    <p:sldId id="299" r:id="rId5"/>
    <p:sldId id="314" r:id="rId6"/>
    <p:sldId id="315" r:id="rId7"/>
    <p:sldId id="317" r:id="rId8"/>
    <p:sldId id="316" r:id="rId9"/>
    <p:sldId id="318" r:id="rId10"/>
    <p:sldId id="319" r:id="rId11"/>
    <p:sldId id="320" r:id="rId12"/>
    <p:sldId id="321" r:id="rId13"/>
    <p:sldId id="312" r:id="rId14"/>
    <p:sldId id="353" r:id="rId15"/>
    <p:sldId id="354" r:id="rId16"/>
    <p:sldId id="355" r:id="rId17"/>
    <p:sldId id="356" r:id="rId18"/>
    <p:sldId id="357" r:id="rId19"/>
    <p:sldId id="359" r:id="rId20"/>
    <p:sldId id="360" r:id="rId21"/>
    <p:sldId id="361" r:id="rId22"/>
    <p:sldId id="362" r:id="rId23"/>
    <p:sldId id="363" r:id="rId24"/>
    <p:sldId id="364" r:id="rId25"/>
    <p:sldId id="313" r:id="rId26"/>
    <p:sldId id="365" r:id="rId27"/>
    <p:sldId id="366" r:id="rId28"/>
    <p:sldId id="367" r:id="rId29"/>
    <p:sldId id="369" r:id="rId30"/>
    <p:sldId id="368" r:id="rId31"/>
    <p:sldId id="370" r:id="rId32"/>
    <p:sldId id="371" r:id="rId33"/>
    <p:sldId id="372" r:id="rId34"/>
    <p:sldId id="37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55" d="100"/>
          <a:sy n="55" d="100"/>
        </p:scale>
        <p:origin x="9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9933D-76A3-4713-BA17-0ACC5F61C70A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B8D8D-F2A5-47A4-8DF0-653802A2F3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2614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1447-B444-43F2-8A34-98132DC1D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CD788-F5A3-4B0E-82BA-20FE133FD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F5B45-3AD3-44F8-9D20-193D0701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B1800-E834-4A71-8E48-403701734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7BA7-2F2E-4BAB-A9DF-8B72384E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5AC3CB-FC01-4B16-A955-28BD71ED9F43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806B02D-6E28-4CA2-A598-3992331417F2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2" name="Picture 11" descr="A picture containing clipart&#10;&#10;Description automatically generated">
            <a:extLst>
              <a:ext uri="{FF2B5EF4-FFF2-40B4-BE49-F238E27FC236}">
                <a16:creationId xmlns:a16="http://schemas.microsoft.com/office/drawing/2014/main" id="{D67A5063-F5F0-4E17-9B04-31DD5E5398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59" y="136525"/>
            <a:ext cx="1364857" cy="7378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4F29EA-9A76-1E06-BCDC-C43409C53E19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BM2005 – Entrepreneurship and Business Management</a:t>
            </a:r>
          </a:p>
        </p:txBody>
      </p:sp>
    </p:spTree>
    <p:extLst>
      <p:ext uri="{BB962C8B-B14F-4D97-AF65-F5344CB8AC3E}">
        <p14:creationId xmlns:p14="http://schemas.microsoft.com/office/powerpoint/2010/main" val="337659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B487-4B8D-49A9-8575-6AC3A18C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D7219-D296-48DE-B18E-BF594AFA1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40184-BACC-4792-A4D6-566AB6683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3E331-50B5-4DF3-8C16-6E997FD4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A7F0-6146-412C-A9DA-8FDD776C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73F560-53E8-44BC-9DA6-264598EBB9A2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F418F93-90E8-45FD-8BCB-10503F7AB85E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2" name="Picture 11" descr="A picture containing clipart&#10;&#10;Description automatically generated">
            <a:extLst>
              <a:ext uri="{FF2B5EF4-FFF2-40B4-BE49-F238E27FC236}">
                <a16:creationId xmlns:a16="http://schemas.microsoft.com/office/drawing/2014/main" id="{E5E6404B-CF19-4AB8-9483-677E4EEE8D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59" y="136525"/>
            <a:ext cx="1364857" cy="7378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696B559-D481-F72B-F0AE-E662796769D2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BM2005 – Entrepreneurship and Business Management</a:t>
            </a:r>
          </a:p>
        </p:txBody>
      </p:sp>
    </p:spTree>
    <p:extLst>
      <p:ext uri="{BB962C8B-B14F-4D97-AF65-F5344CB8AC3E}">
        <p14:creationId xmlns:p14="http://schemas.microsoft.com/office/powerpoint/2010/main" val="25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85DE-BB38-4E44-888F-48814BF0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C9B50-38D2-454E-8097-D70E24E45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A6819-75AA-4A3F-948B-028820A9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C1A4A-AF03-450B-AD38-B477F1066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55ABD-AF51-4647-8FA3-E340481E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8736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7A4A-957C-41A9-BE31-6D1B6FF1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CE808-E60C-4E5A-873C-F9609D8BD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0EE9D-59D5-480F-A286-46042DF58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8D38E-499E-4C14-9ED4-2E06586F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72310-4C55-4AE1-9C76-BECAD983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75886-47C7-4251-9EEA-2123E113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813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733F-638B-434C-BF67-6B16A450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6F2B5-5B3D-4CE3-AC67-A3DD53931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8CA23-6F63-4D05-8887-9B9CBEE6F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8E8A94-387D-40D4-9E69-4219F3417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4DA84-F08A-4892-95CE-A0AC8D6BC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77C99E-797D-4811-B63F-0429F70EE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750CEE-B2EF-4F99-B896-DB732E77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F745A-65EC-4BBE-AD47-73CAC76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9006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1067-ADF9-4E36-B131-80F716AD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715DA-4EA0-4D0C-A7B1-75AFA4A3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28E58-6F09-4B44-B8C9-69E45557B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DA3E0-100C-4DB4-AD03-05F92985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563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7DA86-BA46-4A94-8030-50BDD53E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074C45-BB22-4C8F-A26F-C1EE854E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D6BE8-06C1-440A-B72F-6C629F6B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0212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D596-A316-42CB-8EBA-E289BDC54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EB968-F3A1-42E8-A8E4-FB4C96C85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77055-738F-46AB-9126-EF45B09C1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447E6-8CA0-45CB-ABE3-54EA3654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3B57A-D30B-4DA3-B95B-DCC50065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9A50B-8E51-4645-BE3C-1DEFC177F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475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73606-95D2-461E-ADAD-836665DF2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A5F61-B4E3-4F3B-902F-13D04B757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7F163-4B1B-4953-B1B7-C3E889662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1455C-8DDC-4E8E-A83C-A72DB358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1FB97-AD0C-4A5B-9CAE-34C733B9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FBF65-B6AE-4D61-9FD4-3D0B919BC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80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CBDE3-9398-4121-815A-62743BE6C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A5190-EBC8-4DA8-9B67-B67D5E154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1FE5C-D662-422F-8382-2EE4E0464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DB556-D37D-434D-9628-C9BAE6DB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EF01-B45B-4E54-B05B-0C8CBB7C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8773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02E40-32E7-44A9-8BF4-32FAA9B0E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8C05C-1D3E-4B3B-B223-73852A065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8AB1E-D84D-4F78-8205-57C5D2DD9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2A0C2-0682-47E6-8D2C-F7BE53C4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52B5-E37F-43A3-ABCA-B9AC2F22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038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A05A8-9416-4EBF-A6D3-BA5F7EB9B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107F0-23DF-474F-A9D0-3A4FBBE41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78A3E-85E8-40F5-8B21-FBF4E3855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CEB45-63C5-425B-8D13-3F29452E1276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8D8C3-7CC6-4473-8575-91E3FF4FD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EEC86-BE78-4779-ABFD-99BC06C52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8218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CE3D-499A-49AB-ADD8-785D0A08B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0588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/>
              <a:t>BM2005 – Entrepreneurship and Business Management</a:t>
            </a:r>
            <a:endParaRPr lang="en-SG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CE6FD10-A894-4A74-B2A3-FB6AAED31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67012"/>
              </p:ext>
            </p:extLst>
          </p:nvPr>
        </p:nvGraphicFramePr>
        <p:xfrm>
          <a:off x="1313542" y="3263318"/>
          <a:ext cx="9929845" cy="105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9845">
                  <a:extLst>
                    <a:ext uri="{9D8B030D-6E8A-4147-A177-3AD203B41FA5}">
                      <a16:colId xmlns:a16="http://schemas.microsoft.com/office/drawing/2014/main" val="2563540020"/>
                    </a:ext>
                  </a:extLst>
                </a:gridCol>
              </a:tblGrid>
              <a:tr h="1057012">
                <a:tc>
                  <a:txBody>
                    <a:bodyPr/>
                    <a:lstStyle/>
                    <a:p>
                      <a:pPr algn="ctr"/>
                      <a:r>
                        <a:rPr lang="en-SG" sz="3600" b="0" dirty="0"/>
                        <a:t>First Formative Assessment (3 Hours and 10 Mins)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198376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C499F40-ED94-4A54-A6C0-2660AE997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959529"/>
              </p:ext>
            </p:extLst>
          </p:nvPr>
        </p:nvGraphicFramePr>
        <p:xfrm>
          <a:off x="1313541" y="4657740"/>
          <a:ext cx="992984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883">
                  <a:extLst>
                    <a:ext uri="{9D8B030D-6E8A-4147-A177-3AD203B41FA5}">
                      <a16:colId xmlns:a16="http://schemas.microsoft.com/office/drawing/2014/main" val="776233894"/>
                    </a:ext>
                  </a:extLst>
                </a:gridCol>
                <a:gridCol w="3554963">
                  <a:extLst>
                    <a:ext uri="{9D8B030D-6E8A-4147-A177-3AD203B41FA5}">
                      <a16:colId xmlns:a16="http://schemas.microsoft.com/office/drawing/2014/main" val="34218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SG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Learner Name: </a:t>
                      </a:r>
                    </a:p>
                    <a:p>
                      <a:endParaRPr lang="en-SG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Learner NRIC / FIN No.: [last 3 digits and letter]</a:t>
                      </a:r>
                    </a:p>
                    <a:p>
                      <a:endParaRPr lang="en-SG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Date: April 17, 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501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72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D5739-AAC4-9E93-92C2-2BBCF45B7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rgbClr val="FF0000"/>
                </a:solidFill>
              </a:rPr>
              <a:t>Important : Read the Instructions Carefully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FEB56-795B-AE26-7557-0B76D20DA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157"/>
            <a:ext cx="10515600" cy="4602806"/>
          </a:xfrm>
        </p:spPr>
        <p:txBody>
          <a:bodyPr>
            <a:normAutofit/>
          </a:bodyPr>
          <a:lstStyle/>
          <a:p>
            <a:r>
              <a:rPr lang="en-SG" dirty="0"/>
              <a:t>Each question may need you to write the answers in the slide or take a screenshot and paste in the slide.  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r>
              <a:rPr lang="en-SG" dirty="0"/>
              <a:t>Don’t forget to review each answer and/or screenshot before submission.</a:t>
            </a:r>
          </a:p>
          <a:p>
            <a:endParaRPr lang="en-SG" dirty="0"/>
          </a:p>
          <a:p>
            <a:endParaRPr lang="en-SG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374148-048D-0B86-C451-01FE10ADE953}"/>
              </a:ext>
            </a:extLst>
          </p:cNvPr>
          <p:cNvGrpSpPr/>
          <p:nvPr/>
        </p:nvGrpSpPr>
        <p:grpSpPr>
          <a:xfrm>
            <a:off x="1148843" y="2614620"/>
            <a:ext cx="6512004" cy="1628760"/>
            <a:chOff x="1264590" y="4218915"/>
            <a:chExt cx="5505325" cy="16287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164AF81-8B6A-F866-B722-03D75D2FE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4590" y="4218915"/>
              <a:ext cx="653143" cy="6531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33A8F8-BEE8-11B7-82BE-B4FC7C356567}"/>
                </a:ext>
              </a:extLst>
            </p:cNvPr>
            <p:cNvSpPr txBox="1"/>
            <p:nvPr/>
          </p:nvSpPr>
          <p:spPr>
            <a:xfrm>
              <a:off x="2344123" y="4311940"/>
              <a:ext cx="40147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Question for you to type in the answer.</a:t>
              </a:r>
              <a:endParaRPr lang="en-SG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BD868C6-14C9-CE13-412C-070ACF5297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441" t="21126" r="5209" b="8571"/>
            <a:stretch/>
          </p:blipFill>
          <p:spPr>
            <a:xfrm>
              <a:off x="1264590" y="5267557"/>
              <a:ext cx="653142" cy="51390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258FCB-9C6E-818D-E03A-F4019558BB5E}"/>
                </a:ext>
              </a:extLst>
            </p:cNvPr>
            <p:cNvSpPr txBox="1"/>
            <p:nvPr/>
          </p:nvSpPr>
          <p:spPr>
            <a:xfrm>
              <a:off x="2344122" y="5201344"/>
              <a:ext cx="44257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Question for you to perform a task and screenshot your result and paste it in your Portfolio Slide.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284810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B7715-922B-CAFE-A2E2-D694488D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0679-6A23-5E1E-11F0-41547BF5D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04" y="40730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Learning Unit 1 </a:t>
            </a:r>
            <a:br>
              <a:rPr lang="en-SG" dirty="0"/>
            </a:br>
            <a:r>
              <a:rPr lang="en-SG" dirty="0"/>
              <a:t>Fundamentals of Entrepreneurship</a:t>
            </a:r>
            <a:br>
              <a:rPr lang="en-SG" dirty="0"/>
            </a:br>
            <a:r>
              <a:rPr lang="en-SG" dirty="0"/>
              <a:t> (20 Marks)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382EA-0CDF-A2E2-C4FE-2AA04FAE0050}"/>
              </a:ext>
            </a:extLst>
          </p:cNvPr>
          <p:cNvSpPr txBox="1">
            <a:spLocks/>
          </p:cNvSpPr>
          <p:nvPr/>
        </p:nvSpPr>
        <p:spPr>
          <a:xfrm>
            <a:off x="838200" y="16286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/>
              <a:t>Marking Rubrics: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BCA3C8E-3248-C737-AD79-E83F18A32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022819"/>
              </p:ext>
            </p:extLst>
          </p:nvPr>
        </p:nvGraphicFramePr>
        <p:xfrm>
          <a:off x="838200" y="2703979"/>
          <a:ext cx="11002700" cy="37467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00540">
                  <a:extLst>
                    <a:ext uri="{9D8B030D-6E8A-4147-A177-3AD203B41FA5}">
                      <a16:colId xmlns:a16="http://schemas.microsoft.com/office/drawing/2014/main" val="3908363000"/>
                    </a:ext>
                  </a:extLst>
                </a:gridCol>
                <a:gridCol w="2200540">
                  <a:extLst>
                    <a:ext uri="{9D8B030D-6E8A-4147-A177-3AD203B41FA5}">
                      <a16:colId xmlns:a16="http://schemas.microsoft.com/office/drawing/2014/main" val="806618520"/>
                    </a:ext>
                  </a:extLst>
                </a:gridCol>
                <a:gridCol w="2200540">
                  <a:extLst>
                    <a:ext uri="{9D8B030D-6E8A-4147-A177-3AD203B41FA5}">
                      <a16:colId xmlns:a16="http://schemas.microsoft.com/office/drawing/2014/main" val="1405884563"/>
                    </a:ext>
                  </a:extLst>
                </a:gridCol>
                <a:gridCol w="2200540">
                  <a:extLst>
                    <a:ext uri="{9D8B030D-6E8A-4147-A177-3AD203B41FA5}">
                      <a16:colId xmlns:a16="http://schemas.microsoft.com/office/drawing/2014/main" val="328068485"/>
                    </a:ext>
                  </a:extLst>
                </a:gridCol>
                <a:gridCol w="2200540">
                  <a:extLst>
                    <a:ext uri="{9D8B030D-6E8A-4147-A177-3AD203B41FA5}">
                      <a16:colId xmlns:a16="http://schemas.microsoft.com/office/drawing/2014/main" val="1405064348"/>
                    </a:ext>
                  </a:extLst>
                </a:gridCol>
              </a:tblGrid>
              <a:tr h="3599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Criteria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Excellent (4–5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Good (3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(2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(0–1 mark)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22359075"/>
                  </a:ext>
                </a:extLst>
              </a:tr>
              <a:tr h="7064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Understanding of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Accurate and complete interpretation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Mostly accurate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understanding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Misinterpreted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06995458"/>
                  </a:ext>
                </a:extLst>
              </a:tr>
              <a:tr h="7064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Application of Concepts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Strong, relevant application to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relevant application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clear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2222499"/>
                  </a:ext>
                </a:extLst>
              </a:tr>
              <a:tr h="7064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Analysis &amp; Evaluation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Insightful, well-justified arguments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analysis present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Minimal reasoning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critical thinking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61281499"/>
                  </a:ext>
                </a:extLst>
              </a:tr>
              <a:tr h="3599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Creativity &amp; Problem Solving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Innovative and realistic solutions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Some creativity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Limited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No practical solutions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90406254"/>
                  </a:ext>
                </a:extLst>
              </a:tr>
              <a:tr h="3599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Clarity &amp; Structure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Well-organized and clear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Generally clear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Somewhat unclear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Disorganized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08563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846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544A-968A-4A75-BB9D-CE1D7A4D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79B16-065B-4A24-9281-BE30DB537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620923"/>
            <a:ext cx="653143" cy="6531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14C2E2C-0CBD-4858-8383-1C625AE5A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02344"/>
              </p:ext>
            </p:extLst>
          </p:nvPr>
        </p:nvGraphicFramePr>
        <p:xfrm>
          <a:off x="838200" y="1690688"/>
          <a:ext cx="954640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6401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554775">
                <a:tc>
                  <a:txBody>
                    <a:bodyPr/>
                    <a:lstStyle/>
                    <a:p>
                      <a:pPr lvl="0"/>
                      <a:r>
                        <a:rPr lang="en-SG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Analyse the challenges a new entrepreneur may face when starting a business and suggest possible solutions. </a:t>
                      </a:r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554775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820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4C98A-F9EF-E98F-6686-2A17255F4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900B1-F8F1-95DF-A088-2492B76D6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BF380-99E5-EB84-1F2B-874611B98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620923"/>
            <a:ext cx="653143" cy="65314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9855A5-ECCF-AFAE-5D31-24C0D2B51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5600"/>
              </p:ext>
            </p:extLst>
          </p:nvPr>
        </p:nvGraphicFramePr>
        <p:xfrm>
          <a:off x="943174" y="2618906"/>
          <a:ext cx="1017929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125">
                  <a:extLst>
                    <a:ext uri="{9D8B030D-6E8A-4147-A177-3AD203B41FA5}">
                      <a16:colId xmlns:a16="http://schemas.microsoft.com/office/drawing/2014/main" val="21955233"/>
                    </a:ext>
                  </a:extLst>
                </a:gridCol>
                <a:gridCol w="6690167">
                  <a:extLst>
                    <a:ext uri="{9D8B030D-6E8A-4147-A177-3AD203B41FA5}">
                      <a16:colId xmlns:a16="http://schemas.microsoft.com/office/drawing/2014/main" val="259637820"/>
                    </a:ext>
                  </a:extLst>
                </a:gridCol>
              </a:tblGrid>
              <a:tr h="462461">
                <a:tc>
                  <a:txBody>
                    <a:bodyPr/>
                    <a:lstStyle/>
                    <a:p>
                      <a:r>
                        <a:rPr lang="en-SG" sz="2400" dirty="0"/>
                        <a:t>Innovative Entrepreneur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Answer:</a:t>
                      </a:r>
                    </a:p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400537"/>
                  </a:ext>
                </a:extLst>
              </a:tr>
              <a:tr h="462461">
                <a:tc>
                  <a:txBody>
                    <a:bodyPr/>
                    <a:lstStyle/>
                    <a:p>
                      <a:r>
                        <a:rPr lang="en-SG" sz="2400" dirty="0"/>
                        <a:t>Imitative Entrepreneur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Answer:</a:t>
                      </a:r>
                    </a:p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981093"/>
                  </a:ext>
                </a:extLst>
              </a:tr>
              <a:tr h="462461">
                <a:tc>
                  <a:txBody>
                    <a:bodyPr/>
                    <a:lstStyle/>
                    <a:p>
                      <a:r>
                        <a:rPr lang="en-SG" sz="2400" dirty="0"/>
                        <a:t>Social Entrepreneur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Answer:</a:t>
                      </a:r>
                    </a:p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1764"/>
                  </a:ext>
                </a:extLst>
              </a:tr>
              <a:tr h="462461">
                <a:tc>
                  <a:txBody>
                    <a:bodyPr/>
                    <a:lstStyle/>
                    <a:p>
                      <a:r>
                        <a:rPr lang="en-SG" sz="2400" dirty="0"/>
                        <a:t>Intrapreneur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Answer:</a:t>
                      </a:r>
                    </a:p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2183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4C8A8A-BE41-CE81-9553-15CDF1F74DB4}"/>
              </a:ext>
            </a:extLst>
          </p:cNvPr>
          <p:cNvSpPr txBox="1"/>
          <p:nvPr/>
        </p:nvSpPr>
        <p:spPr>
          <a:xfrm>
            <a:off x="879996" y="1407877"/>
            <a:ext cx="103056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Write a sample business for the following types of entrepreneur.  </a:t>
            </a:r>
          </a:p>
        </p:txBody>
      </p:sp>
    </p:spTree>
    <p:extLst>
      <p:ext uri="{BB962C8B-B14F-4D97-AF65-F5344CB8AC3E}">
        <p14:creationId xmlns:p14="http://schemas.microsoft.com/office/powerpoint/2010/main" val="1106548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E07B-948C-5E3D-2F19-22E8498A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4686-6750-601F-39EE-66A4632D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9C0C-A36D-47F9-D23C-893BF086A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620923"/>
            <a:ext cx="653143" cy="65314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DAEAAC-A14D-E4E5-50CD-99E4A8B91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31945"/>
              </p:ext>
            </p:extLst>
          </p:nvPr>
        </p:nvGraphicFramePr>
        <p:xfrm>
          <a:off x="943174" y="2618906"/>
          <a:ext cx="10179292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125">
                  <a:extLst>
                    <a:ext uri="{9D8B030D-6E8A-4147-A177-3AD203B41FA5}">
                      <a16:colId xmlns:a16="http://schemas.microsoft.com/office/drawing/2014/main" val="21955233"/>
                    </a:ext>
                  </a:extLst>
                </a:gridCol>
                <a:gridCol w="6690167">
                  <a:extLst>
                    <a:ext uri="{9D8B030D-6E8A-4147-A177-3AD203B41FA5}">
                      <a16:colId xmlns:a16="http://schemas.microsoft.com/office/drawing/2014/main" val="259637820"/>
                    </a:ext>
                  </a:extLst>
                </a:gridCol>
              </a:tblGrid>
              <a:tr h="462461">
                <a:tc>
                  <a:txBody>
                    <a:bodyPr/>
                    <a:lstStyle/>
                    <a:p>
                      <a:pPr lvl="0"/>
                      <a:r>
                        <a:rPr lang="en-SG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 how you would apply entrepreneurial skills to succeed.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Answer:</a:t>
                      </a:r>
                    </a:p>
                    <a:p>
                      <a:endParaRPr lang="en-SG" sz="2400" dirty="0"/>
                    </a:p>
                    <a:p>
                      <a:endParaRPr lang="en-SG" sz="2400" dirty="0"/>
                    </a:p>
                    <a:p>
                      <a:endParaRPr lang="en-SG" sz="2400" dirty="0"/>
                    </a:p>
                    <a:p>
                      <a:endParaRPr lang="en-SG" sz="2400" dirty="0"/>
                    </a:p>
                    <a:p>
                      <a:endParaRPr lang="en-SG" sz="2400" dirty="0"/>
                    </a:p>
                    <a:p>
                      <a:endParaRPr lang="en-SG" sz="2400" dirty="0"/>
                    </a:p>
                    <a:p>
                      <a:endParaRPr lang="en-SG" sz="2400" dirty="0"/>
                    </a:p>
                    <a:p>
                      <a:endParaRPr lang="en-SG" sz="2400" dirty="0"/>
                    </a:p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4005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E56810-5BE8-1FC3-3F4C-F6F5BE348816}"/>
              </a:ext>
            </a:extLst>
          </p:cNvPr>
          <p:cNvSpPr txBox="1"/>
          <p:nvPr/>
        </p:nvSpPr>
        <p:spPr>
          <a:xfrm>
            <a:off x="879996" y="1407877"/>
            <a:ext cx="103056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You are given an opportunity to start a business with limited resources.</a:t>
            </a:r>
            <a:endParaRPr lang="en-SG" sz="4800" dirty="0"/>
          </a:p>
        </p:txBody>
      </p:sp>
    </p:spTree>
    <p:extLst>
      <p:ext uri="{BB962C8B-B14F-4D97-AF65-F5344CB8AC3E}">
        <p14:creationId xmlns:p14="http://schemas.microsoft.com/office/powerpoint/2010/main" val="287346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F6AFE-E495-1A25-FA8D-6A7F8DC54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5BF6D-C689-4CB9-D9F5-730C1E5F8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08764"/>
            <a:ext cx="10515600" cy="1325563"/>
          </a:xfrm>
        </p:spPr>
        <p:txBody>
          <a:bodyPr/>
          <a:lstStyle/>
          <a:p>
            <a:r>
              <a:rPr lang="en-SG" b="1" dirty="0"/>
              <a:t>Question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41E18C-4011-0B76-3A53-1E144BBEC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62" y="180438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40263F-01B4-C8DF-A0F2-520667457698}"/>
              </a:ext>
            </a:extLst>
          </p:cNvPr>
          <p:cNvSpPr txBox="1"/>
          <p:nvPr/>
        </p:nvSpPr>
        <p:spPr>
          <a:xfrm>
            <a:off x="838199" y="904486"/>
            <a:ext cx="103056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In your own understanding, explain the meaning of the diagram below in relation to entrepreneurship:</a:t>
            </a:r>
            <a:endParaRPr lang="en-SG" sz="4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121009-8F22-C359-BB3A-D8A8F07AC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010785"/>
              </p:ext>
            </p:extLst>
          </p:nvPr>
        </p:nvGraphicFramePr>
        <p:xfrm>
          <a:off x="6422571" y="2048718"/>
          <a:ext cx="5227658" cy="4560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7658">
                  <a:extLst>
                    <a:ext uri="{9D8B030D-6E8A-4147-A177-3AD203B41FA5}">
                      <a16:colId xmlns:a16="http://schemas.microsoft.com/office/drawing/2014/main" val="2254321093"/>
                    </a:ext>
                  </a:extLst>
                </a:gridCol>
              </a:tblGrid>
              <a:tr h="4560425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07511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E897C74-628E-E472-4FEC-68B034DF0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97" y="2631816"/>
            <a:ext cx="5227659" cy="386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381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1DC99-C47A-7DD0-F0B9-F946D773D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CBE0D-90C4-F0FB-750D-57D23266E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04" y="40730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Learning Unit 1 </a:t>
            </a:r>
            <a:br>
              <a:rPr lang="en-SG" dirty="0"/>
            </a:br>
            <a:r>
              <a:rPr lang="en-SG" dirty="0"/>
              <a:t>Fundamentals of Entrepreneurship</a:t>
            </a:r>
            <a:br>
              <a:rPr lang="en-SG" dirty="0"/>
            </a:br>
            <a:r>
              <a:rPr lang="en-SG" dirty="0"/>
              <a:t> (10 Marks – Case Study)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47CBCA-2636-60DB-E4B7-5774C040A771}"/>
              </a:ext>
            </a:extLst>
          </p:cNvPr>
          <p:cNvSpPr txBox="1">
            <a:spLocks/>
          </p:cNvSpPr>
          <p:nvPr/>
        </p:nvSpPr>
        <p:spPr>
          <a:xfrm>
            <a:off x="838200" y="16286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/>
              <a:t>Marking Rubrics: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1739FD-0039-1AD6-E66E-5EF781297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291395"/>
              </p:ext>
            </p:extLst>
          </p:nvPr>
        </p:nvGraphicFramePr>
        <p:xfrm>
          <a:off x="838200" y="2706857"/>
          <a:ext cx="10515600" cy="37038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32947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588124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57568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571889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03579255"/>
                    </a:ext>
                  </a:extLst>
                </a:gridCol>
              </a:tblGrid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Criteria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Excellent (4–5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Good (3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(2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(0–1 mark)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33636948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Understanding of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Clear and accurate interpretation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Mostly accurate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understanding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Misunderstood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1904192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Application of Concepts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Strong and relevant application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relevant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53910347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Analysis &amp; Evaluation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Insightful and well-justified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reasoning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Minimal reasoning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analysis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195767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Creativity &amp; Problem Solving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Innovative, realistic solutions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creativity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Limited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practical ideas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546882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Clarity &amp; Organization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Clear, structured, logical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Mostly 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Somewhat unclear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Disorganized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6311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951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AEE55-4976-648C-0686-0552BFE6B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9761-DD1A-FFB9-B2E6-E51FE8563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5   1/4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C3678-7AE9-A3EF-5985-EABCEF738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80" y="608013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FEDF41-A58B-B649-7F60-5C633CF3BD9A}"/>
              </a:ext>
            </a:extLst>
          </p:cNvPr>
          <p:cNvSpPr txBox="1"/>
          <p:nvPr/>
        </p:nvSpPr>
        <p:spPr>
          <a:xfrm>
            <a:off x="879996" y="1407877"/>
            <a:ext cx="1030564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Read the Case Study Scenario below and answer the given questions. </a:t>
            </a:r>
          </a:p>
          <a:p>
            <a:endParaRPr lang="en-SG" b="1" dirty="0"/>
          </a:p>
          <a:p>
            <a:r>
              <a:rPr lang="en-SG" sz="2000" b="1" dirty="0"/>
              <a:t>Case Title: “FitTech – A Digital Fitness Startup”</a:t>
            </a:r>
            <a:endParaRPr lang="en-SG" sz="2000" dirty="0"/>
          </a:p>
          <a:p>
            <a:r>
              <a:rPr lang="en-SG" sz="2000" dirty="0"/>
              <a:t>Jason, a former personal trainer in Singapore, noticed that many working adults struggle to maintain a consistent fitness routine due to busy schedules. To solve this problem, he created </a:t>
            </a:r>
            <a:r>
              <a:rPr lang="en-SG" sz="2000" i="1" dirty="0"/>
              <a:t>FitTech</a:t>
            </a:r>
            <a:r>
              <a:rPr lang="en-SG" sz="2000" dirty="0"/>
              <a:t>, a mobile app that offers short, personalized workout plans and tracks users’ progress.</a:t>
            </a:r>
          </a:p>
          <a:p>
            <a:r>
              <a:rPr lang="en-SG" sz="2000" dirty="0"/>
              <a:t>Jason started the business with basic coding knowledge and outsourced some app development. He promoted the app using influencers and offered a free trial period. Initially, many users downloaded the app, but only a small percentage continued using it after the trial.</a:t>
            </a:r>
          </a:p>
          <a:p>
            <a:endParaRPr lang="en-SG" sz="2000" dirty="0"/>
          </a:p>
          <a:p>
            <a:r>
              <a:rPr lang="en-SG" sz="2000" dirty="0"/>
              <a:t>Jason now faces several challenges: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sz="2000" dirty="0"/>
              <a:t>Low customer retention rates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sz="2000" dirty="0"/>
              <a:t>Strong competition from established fitness apps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sz="2000" dirty="0"/>
              <a:t>Limited funding for further app development </a:t>
            </a:r>
          </a:p>
          <a:p>
            <a:r>
              <a:rPr lang="en-SG" sz="2000" dirty="0"/>
              <a:t>Despite these issues, Jason believes in his idea and continues improving the app features.</a:t>
            </a:r>
          </a:p>
          <a:p>
            <a:endParaRPr lang="en-SG" sz="4800" dirty="0"/>
          </a:p>
        </p:txBody>
      </p:sp>
    </p:spTree>
    <p:extLst>
      <p:ext uri="{BB962C8B-B14F-4D97-AF65-F5344CB8AC3E}">
        <p14:creationId xmlns:p14="http://schemas.microsoft.com/office/powerpoint/2010/main" val="374653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B86FA-C4F9-E360-666C-552B072B1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BE9E-B734-82C7-8838-01EC11EB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5   2/4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089DD-9402-9B63-C4FC-7ACF31E57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80" y="608013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8CA21B-AD2E-0F36-C064-BF6D13686100}"/>
              </a:ext>
            </a:extLst>
          </p:cNvPr>
          <p:cNvSpPr txBox="1"/>
          <p:nvPr/>
        </p:nvSpPr>
        <p:spPr>
          <a:xfrm>
            <a:off x="879996" y="1407877"/>
            <a:ext cx="103056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Case Study Question 1: </a:t>
            </a:r>
          </a:p>
          <a:p>
            <a:endParaRPr lang="en-SG" dirty="0"/>
          </a:p>
          <a:p>
            <a:r>
              <a:rPr lang="en-SG" sz="2800" dirty="0"/>
              <a:t>What products or services does </a:t>
            </a:r>
            <a:r>
              <a:rPr lang="en-SG" sz="2800" b="1" dirty="0"/>
              <a:t>FitTech</a:t>
            </a:r>
            <a:r>
              <a:rPr lang="en-SG" sz="2800" dirty="0"/>
              <a:t> offer?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449EA3-7FAA-F73F-54F7-87916D8D7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44656"/>
              </p:ext>
            </p:extLst>
          </p:nvPr>
        </p:nvGraphicFramePr>
        <p:xfrm>
          <a:off x="990278" y="3429000"/>
          <a:ext cx="971630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6303">
                  <a:extLst>
                    <a:ext uri="{9D8B030D-6E8A-4147-A177-3AD203B41FA5}">
                      <a16:colId xmlns:a16="http://schemas.microsoft.com/office/drawing/2014/main" val="575264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Answer: </a:t>
                      </a:r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344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22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4DAA-5E8C-D4A9-0582-285D9718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BF69-6241-E2F0-E6B3-23047714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5   3/4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1D533-6959-1654-CF87-B5BF1608D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80" y="608013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4A31B9-71F5-DE4D-964E-C5D4F508B980}"/>
              </a:ext>
            </a:extLst>
          </p:cNvPr>
          <p:cNvSpPr txBox="1"/>
          <p:nvPr/>
        </p:nvSpPr>
        <p:spPr>
          <a:xfrm>
            <a:off x="879996" y="1407877"/>
            <a:ext cx="1030564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Case Study Question 2: </a:t>
            </a:r>
          </a:p>
          <a:p>
            <a:endParaRPr lang="en-SG" dirty="0"/>
          </a:p>
          <a:p>
            <a:pPr lvl="0"/>
            <a:r>
              <a:rPr lang="en-SG" sz="3200" dirty="0"/>
              <a:t>Suggest two ways Jason can improve customer retention.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7E6749-4F80-4FF9-7648-C646DEC97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908278"/>
              </p:ext>
            </p:extLst>
          </p:nvPr>
        </p:nvGraphicFramePr>
        <p:xfrm>
          <a:off x="990278" y="3429000"/>
          <a:ext cx="971630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6303">
                  <a:extLst>
                    <a:ext uri="{9D8B030D-6E8A-4147-A177-3AD203B41FA5}">
                      <a16:colId xmlns:a16="http://schemas.microsoft.com/office/drawing/2014/main" val="575264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Answer: </a:t>
                      </a:r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344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22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9410F-CFB8-874E-75CE-E89352BE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E616-8D40-273C-7C17-0FD16E95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5   4/4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84878F-808E-EEE8-3083-328DBA770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80" y="608013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166027-CA9B-09F9-18DD-236BC811DF71}"/>
              </a:ext>
            </a:extLst>
          </p:cNvPr>
          <p:cNvSpPr txBox="1"/>
          <p:nvPr/>
        </p:nvSpPr>
        <p:spPr>
          <a:xfrm>
            <a:off x="879996" y="1407877"/>
            <a:ext cx="1030564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Case Study Question 3: </a:t>
            </a:r>
          </a:p>
          <a:p>
            <a:endParaRPr lang="en-SG" dirty="0"/>
          </a:p>
          <a:p>
            <a:r>
              <a:rPr lang="en-SG" sz="2800" dirty="0"/>
              <a:t>Evaluate whether Jason should focus more on marketing or product development. Justify your answer.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AAF652-894C-BBCC-2602-4EE926EC5D10}"/>
              </a:ext>
            </a:extLst>
          </p:cNvPr>
          <p:cNvGraphicFramePr>
            <a:graphicFrameLocks noGrp="1"/>
          </p:cNvGraphicFramePr>
          <p:nvPr/>
        </p:nvGraphicFramePr>
        <p:xfrm>
          <a:off x="990278" y="3429000"/>
          <a:ext cx="971630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6303">
                  <a:extLst>
                    <a:ext uri="{9D8B030D-6E8A-4147-A177-3AD203B41FA5}">
                      <a16:colId xmlns:a16="http://schemas.microsoft.com/office/drawing/2014/main" val="575264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Answer: </a:t>
                      </a:r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344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501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BAAFB-61A3-96CA-4788-452DEF7DA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ABFF-B94C-1202-3530-2C996668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04" y="40730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Learning Unit 2</a:t>
            </a:r>
            <a:br>
              <a:rPr lang="en-SG" dirty="0"/>
            </a:br>
            <a:r>
              <a:rPr lang="en-SG" dirty="0"/>
              <a:t>Developing a Business Plan</a:t>
            </a:r>
            <a:br>
              <a:rPr lang="en-SG" dirty="0"/>
            </a:br>
            <a:r>
              <a:rPr lang="en-SG" dirty="0"/>
              <a:t> (30 Marks)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B2A992-9560-0A81-FDDC-E0E5F37CBEEB}"/>
              </a:ext>
            </a:extLst>
          </p:cNvPr>
          <p:cNvSpPr txBox="1">
            <a:spLocks/>
          </p:cNvSpPr>
          <p:nvPr/>
        </p:nvSpPr>
        <p:spPr>
          <a:xfrm>
            <a:off x="1129496" y="17328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dirty="0"/>
              <a:t>Marking Rubrics: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CEF2E3-D5ED-6866-048C-6BC26A065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942918"/>
              </p:ext>
            </p:extLst>
          </p:nvPr>
        </p:nvGraphicFramePr>
        <p:xfrm>
          <a:off x="1243314" y="2746811"/>
          <a:ext cx="10515600" cy="37038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32947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588124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57568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571889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03579255"/>
                    </a:ext>
                  </a:extLst>
                </a:gridCol>
              </a:tblGrid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Criteria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Excellent (4–5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Good (3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(2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(0–1 mark)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33636948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Understanding of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Clear and accurate interpretation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Mostly accurate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understanding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Misunderstood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1904192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Application of Concepts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Strong and relevant application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relevant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53910347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Analysis &amp; Evaluation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Insightful and well-justified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reasoning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Minimal reasoning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analysis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195767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Creativity &amp; Problem Solving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Innovative, realistic solutions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creativity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Limited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practical ideas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546882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Clarity &amp; Organization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Clear, structured, logical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Mostly 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Somewhat unclear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Disorganized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6311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090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5411E-D6DA-7F2B-CB46-DA760FBF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FE0-3BB4-A5A8-27CC-68D8E16DC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49486-240A-C375-4408-8EF6E0AA4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620923"/>
            <a:ext cx="653143" cy="6531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9D67A0C-D870-C533-184F-47E460C5A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483009"/>
              </p:ext>
            </p:extLst>
          </p:nvPr>
        </p:nvGraphicFramePr>
        <p:xfrm>
          <a:off x="838200" y="1690688"/>
          <a:ext cx="954640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6401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554775">
                <a:tc>
                  <a:txBody>
                    <a:bodyPr/>
                    <a:lstStyle/>
                    <a:p>
                      <a:pPr lvl="0"/>
                      <a:r>
                        <a:rPr lang="en-SG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a business plan, what is the purpose of an executive summary?</a:t>
                      </a:r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554775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616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959CA-1F53-8BA5-FCF3-73514C47F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077C-3649-6A4B-BC01-2EEEE6D05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224C8A-2924-E468-D954-EF83FA25A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620923"/>
            <a:ext cx="653143" cy="6531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F0E0398-22D5-02F6-715B-54EB6E5D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052778"/>
              </p:ext>
            </p:extLst>
          </p:nvPr>
        </p:nvGraphicFramePr>
        <p:xfrm>
          <a:off x="838200" y="1690688"/>
          <a:ext cx="954640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6401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554775">
                <a:tc>
                  <a:txBody>
                    <a:bodyPr/>
                    <a:lstStyle/>
                    <a:p>
                      <a:pPr lvl="0"/>
                      <a:r>
                        <a:rPr lang="en-SG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an elevator pitch? </a:t>
                      </a:r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554775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037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B8D4F-8438-A73E-E3FF-26E1DBFA2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1D74-6113-C51F-237D-E357C30CB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0AF71-18EF-75B5-AEFA-FBEA7A635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620923"/>
            <a:ext cx="653143" cy="6531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2ACEF46-46E3-F589-DFAD-FAC491123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6603"/>
              </p:ext>
            </p:extLst>
          </p:nvPr>
        </p:nvGraphicFramePr>
        <p:xfrm>
          <a:off x="838200" y="1690688"/>
          <a:ext cx="954640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6401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554775">
                <a:tc>
                  <a:txBody>
                    <a:bodyPr/>
                    <a:lstStyle/>
                    <a:p>
                      <a:pPr lvl="0"/>
                      <a:r>
                        <a:rPr lang="en-SG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do financial projection helps in decision-making when starting a business or when giving pitch to an investor?</a:t>
                      </a:r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554775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084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090BE-9DBA-D017-9683-D50D644B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E332-0A7A-EDA2-8123-3C40B089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59A58-D9B1-175B-1D56-EB3D63F5B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620923"/>
            <a:ext cx="653143" cy="6531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8A5B71A-7DCB-848B-7F44-6958A355B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898856"/>
              </p:ext>
            </p:extLst>
          </p:nvPr>
        </p:nvGraphicFramePr>
        <p:xfrm>
          <a:off x="838200" y="1690688"/>
          <a:ext cx="954640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6401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554775">
                <a:tc>
                  <a:txBody>
                    <a:bodyPr/>
                    <a:lstStyle/>
                    <a:p>
                      <a:r>
                        <a:rPr lang="en-SG" sz="2800" dirty="0"/>
                        <a:t>How should an entrepreneur handle objections from an investor?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554775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737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263D-C07E-CF5D-43C9-CD9F77E5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DEE00-01D9-8A7A-9A78-90D7488F1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219FE-33EB-D202-9D75-A7F11FE79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620923"/>
            <a:ext cx="653143" cy="6531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38E1BB-58AC-5A20-54DD-F6D9C89BC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438926"/>
              </p:ext>
            </p:extLst>
          </p:nvPr>
        </p:nvGraphicFramePr>
        <p:xfrm>
          <a:off x="838200" y="1690688"/>
          <a:ext cx="954640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6401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554775">
                <a:tc>
                  <a:txBody>
                    <a:bodyPr/>
                    <a:lstStyle/>
                    <a:p>
                      <a:pPr lvl="0"/>
                      <a:r>
                        <a:rPr lang="en-SG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 how the “Value Proposition” and “Customer Segments” are related.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554775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65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1592-20AB-C256-52F0-5C4304E95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A5978-ADB2-9696-26C0-D5AB6707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49908-0FFB-7C4C-EF60-88F049254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620923"/>
            <a:ext cx="653143" cy="6531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AE6F399-57E0-65EB-5ECD-8BF7D78EE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02353"/>
              </p:ext>
            </p:extLst>
          </p:nvPr>
        </p:nvGraphicFramePr>
        <p:xfrm>
          <a:off x="838200" y="1690688"/>
          <a:ext cx="954640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6401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554775">
                <a:tc>
                  <a:txBody>
                    <a:bodyPr/>
                    <a:lstStyle/>
                    <a:p>
                      <a:pPr lvl="0"/>
                      <a:r>
                        <a:rPr lang="en-SG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pitching to investors vs pitching to customers. Which is more challenging? Why?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554775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798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0DB38-BBB1-609E-941A-A54AD45A7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90B6-57DA-3215-CACF-EDBB2E61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04" y="40730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Learning Unit 2 </a:t>
            </a:r>
            <a:br>
              <a:rPr lang="en-SG" dirty="0"/>
            </a:br>
            <a:r>
              <a:rPr lang="en-SG" dirty="0"/>
              <a:t>Developing a Business Plan</a:t>
            </a:r>
            <a:br>
              <a:rPr lang="en-SG" dirty="0"/>
            </a:br>
            <a:r>
              <a:rPr lang="en-SG" dirty="0"/>
              <a:t> (10 Marks – Case Study)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3A1043A-EC31-B36B-B64E-E7CDD79A10A8}"/>
              </a:ext>
            </a:extLst>
          </p:cNvPr>
          <p:cNvSpPr txBox="1">
            <a:spLocks/>
          </p:cNvSpPr>
          <p:nvPr/>
        </p:nvSpPr>
        <p:spPr>
          <a:xfrm>
            <a:off x="838200" y="16286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/>
              <a:t>Marking Rubrics: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40557A-8A14-7DA5-FEA5-918B52E98DD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06857"/>
          <a:ext cx="10515600" cy="37038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32947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588124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57568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571889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03579255"/>
                    </a:ext>
                  </a:extLst>
                </a:gridCol>
              </a:tblGrid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Criteria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Excellent (4–5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Good (3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(2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(0–1 mark)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33636948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Understanding of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Clear and accurate interpretation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Mostly accurate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understanding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Misunderstood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1904192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Application of Concepts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Strong and relevant application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relevant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53910347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Analysis &amp; Evaluation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Insightful and well-justified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reasoning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Minimal reasoning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analysis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195767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Creativity &amp; Problem Solving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Innovative, realistic solutions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creativity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Limited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practical ideas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546882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Clarity &amp; Organization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Clear, structured, logical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Mostly 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Somewhat unclear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Disorganized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6311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944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DC3A0-AD1F-4565-4CC0-A7D3220A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2F1A5-9D3B-CB73-1A3D-120724E9B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13   1/4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63D4CD-A557-EBDD-8C2B-D30FB55DD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80" y="608013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44372D-6261-04DC-BE4D-4AE32E3EB998}"/>
              </a:ext>
            </a:extLst>
          </p:cNvPr>
          <p:cNvSpPr txBox="1"/>
          <p:nvPr/>
        </p:nvSpPr>
        <p:spPr>
          <a:xfrm>
            <a:off x="879996" y="1407877"/>
            <a:ext cx="1030564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Read the Case Study Scenario below and answer the given questions. </a:t>
            </a:r>
          </a:p>
          <a:p>
            <a:endParaRPr lang="en-SG" sz="3200" dirty="0"/>
          </a:p>
          <a:p>
            <a:r>
              <a:rPr lang="en-SG" sz="2000" b="1" dirty="0"/>
              <a:t>Case Title: “EcoWash – Smart Laundry Service”</a:t>
            </a:r>
            <a:endParaRPr lang="en-SG" sz="2000" dirty="0"/>
          </a:p>
          <a:p>
            <a:r>
              <a:rPr lang="en-SG" sz="2000" dirty="0"/>
              <a:t>Amir plans to start </a:t>
            </a:r>
            <a:r>
              <a:rPr lang="en-SG" sz="2000" i="1" dirty="0"/>
              <a:t>EcoWash</a:t>
            </a:r>
            <a:r>
              <a:rPr lang="en-SG" sz="2000" dirty="0"/>
              <a:t>, a mobile app-based laundry service that offers eco-friendly cleaning and doorstep delivery. His target customers are busy professionals and students.</a:t>
            </a:r>
          </a:p>
          <a:p>
            <a:r>
              <a:rPr lang="en-SG" sz="2000" dirty="0"/>
              <a:t>He has developed a basic </a:t>
            </a:r>
            <a:r>
              <a:rPr lang="en-SG" sz="2000" b="1" dirty="0"/>
              <a:t>Business Model Canvas</a:t>
            </a:r>
            <a:r>
              <a:rPr lang="en-SG" sz="2000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sz="2000" b="1" dirty="0"/>
              <a:t>Value Proposition</a:t>
            </a:r>
            <a:r>
              <a:rPr lang="en-SG" sz="2000" dirty="0"/>
              <a:t>: Convenient, eco-friendly laundry service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sz="2000" b="1" dirty="0"/>
              <a:t>Customer Segments</a:t>
            </a:r>
            <a:r>
              <a:rPr lang="en-SG" sz="2000" dirty="0"/>
              <a:t>: Urban working adults and students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sz="2000" b="1" dirty="0"/>
              <a:t>Channels</a:t>
            </a:r>
            <a:r>
              <a:rPr lang="en-SG" sz="2000" dirty="0"/>
              <a:t>: Mobile app and social media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sz="2000" b="1" dirty="0"/>
              <a:t>Revenue Stream</a:t>
            </a:r>
            <a:r>
              <a:rPr lang="en-SG" sz="2000" dirty="0"/>
              <a:t>: Pay-per-service model </a:t>
            </a:r>
          </a:p>
          <a:p>
            <a:r>
              <a:rPr lang="en-SG" sz="2000" dirty="0"/>
              <a:t>However, Amir faces challenges: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sz="2000" dirty="0"/>
              <a:t>He has not clearly defined his cost structure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sz="2000" dirty="0"/>
              <a:t>His marketing strategy is weak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sz="2000" dirty="0"/>
              <a:t>His business pitch to investors lacks clarity and confidence </a:t>
            </a:r>
          </a:p>
        </p:txBody>
      </p:sp>
    </p:spTree>
    <p:extLst>
      <p:ext uri="{BB962C8B-B14F-4D97-AF65-F5344CB8AC3E}">
        <p14:creationId xmlns:p14="http://schemas.microsoft.com/office/powerpoint/2010/main" val="108222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C51E8-3A19-C2AC-23FD-F3E164236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5DC2-78B6-6976-8998-D5B85C34E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12   2/4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2FA1DF-BD6F-7B39-8592-8B71FBFE0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80" y="608013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AE2E61-BA07-EED0-1F83-8B2485973233}"/>
              </a:ext>
            </a:extLst>
          </p:cNvPr>
          <p:cNvSpPr txBox="1"/>
          <p:nvPr/>
        </p:nvSpPr>
        <p:spPr>
          <a:xfrm>
            <a:off x="879996" y="1407877"/>
            <a:ext cx="1030564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Case Study Question 1: </a:t>
            </a:r>
          </a:p>
          <a:p>
            <a:endParaRPr lang="en-SG" dirty="0"/>
          </a:p>
          <a:p>
            <a:pPr lvl="0"/>
            <a:r>
              <a:rPr lang="en-SG" sz="2800" dirty="0"/>
              <a:t>Analyse whether </a:t>
            </a:r>
            <a:r>
              <a:rPr lang="en-SG" sz="2800" b="1" dirty="0"/>
              <a:t>EcoWash</a:t>
            </a:r>
            <a:r>
              <a:rPr lang="en-SG" sz="2800" dirty="0"/>
              <a:t> is a viable business idea in a competitive market.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684ECE-1F29-DA32-CB9D-2985E137567C}"/>
              </a:ext>
            </a:extLst>
          </p:cNvPr>
          <p:cNvGraphicFramePr>
            <a:graphicFrameLocks noGrp="1"/>
          </p:cNvGraphicFramePr>
          <p:nvPr/>
        </p:nvGraphicFramePr>
        <p:xfrm>
          <a:off x="990278" y="3429000"/>
          <a:ext cx="971630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6303">
                  <a:extLst>
                    <a:ext uri="{9D8B030D-6E8A-4147-A177-3AD203B41FA5}">
                      <a16:colId xmlns:a16="http://schemas.microsoft.com/office/drawing/2014/main" val="575264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Answer: </a:t>
                      </a:r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344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801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4E2B4-EF4F-F79D-FBAB-C840451C3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AA2D-6631-C8CF-1DC5-EFFDB5C2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12   3/4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E8EB07-29D4-1350-1E13-A551CAE02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80" y="608013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9855F6-D0AC-2F5D-9BDD-452D1BEC4641}"/>
              </a:ext>
            </a:extLst>
          </p:cNvPr>
          <p:cNvSpPr txBox="1"/>
          <p:nvPr/>
        </p:nvSpPr>
        <p:spPr>
          <a:xfrm>
            <a:off x="879996" y="1407877"/>
            <a:ext cx="103056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Case Study Question 2: </a:t>
            </a:r>
          </a:p>
          <a:p>
            <a:endParaRPr lang="en-SG" dirty="0"/>
          </a:p>
          <a:p>
            <a:pPr lvl="0"/>
            <a:r>
              <a:rPr lang="en-SG" sz="2800" dirty="0"/>
              <a:t>Design a short pitch outline for </a:t>
            </a:r>
            <a:r>
              <a:rPr lang="en-SG" sz="2800" b="1" dirty="0"/>
              <a:t>EcoWash</a:t>
            </a:r>
            <a:r>
              <a:rPr lang="en-SG" sz="2800" dirty="0"/>
              <a:t>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CE7354-7901-CF1D-AFF2-8BF9BA5D73C8}"/>
              </a:ext>
            </a:extLst>
          </p:cNvPr>
          <p:cNvGraphicFramePr>
            <a:graphicFrameLocks noGrp="1"/>
          </p:cNvGraphicFramePr>
          <p:nvPr/>
        </p:nvGraphicFramePr>
        <p:xfrm>
          <a:off x="990278" y="3429000"/>
          <a:ext cx="971630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6303">
                  <a:extLst>
                    <a:ext uri="{9D8B030D-6E8A-4147-A177-3AD203B41FA5}">
                      <a16:colId xmlns:a16="http://schemas.microsoft.com/office/drawing/2014/main" val="575264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Answer: </a:t>
                      </a:r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344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565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4B708-57D2-7CA5-1E20-4F5E1ACB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BD31D-F9B8-41A0-0D36-C2556ADDD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12   4/4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95E90-04DC-525B-7F8D-D0239D851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80" y="608013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1826EB-E78A-F5E2-B921-06E39898F985}"/>
              </a:ext>
            </a:extLst>
          </p:cNvPr>
          <p:cNvSpPr txBox="1"/>
          <p:nvPr/>
        </p:nvSpPr>
        <p:spPr>
          <a:xfrm>
            <a:off x="879996" y="1407877"/>
            <a:ext cx="103056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Case Study Question 3: </a:t>
            </a:r>
          </a:p>
          <a:p>
            <a:endParaRPr lang="en-SG" dirty="0"/>
          </a:p>
          <a:p>
            <a:pPr lvl="0"/>
            <a:r>
              <a:rPr lang="en-SG" sz="2800" dirty="0"/>
              <a:t>Recommend strategies to make EcoWash scalable and sustainable</a:t>
            </a:r>
            <a:r>
              <a:rPr lang="en-SG" sz="4000" dirty="0"/>
              <a:t>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C443FD-A3B9-4C83-5BFC-48872A894539}"/>
              </a:ext>
            </a:extLst>
          </p:cNvPr>
          <p:cNvGraphicFramePr>
            <a:graphicFrameLocks noGrp="1"/>
          </p:cNvGraphicFramePr>
          <p:nvPr/>
        </p:nvGraphicFramePr>
        <p:xfrm>
          <a:off x="990278" y="3429000"/>
          <a:ext cx="971630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6303">
                  <a:extLst>
                    <a:ext uri="{9D8B030D-6E8A-4147-A177-3AD203B41FA5}">
                      <a16:colId xmlns:a16="http://schemas.microsoft.com/office/drawing/2014/main" val="575264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Answer: </a:t>
                      </a:r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344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144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FDE81-F9F4-4A14-FC1F-79EFE9B8E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8038-E382-B491-7A85-DF3463E17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04" y="40730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Learning Unit 3</a:t>
            </a:r>
            <a:br>
              <a:rPr lang="en-SG" dirty="0"/>
            </a:br>
            <a:r>
              <a:rPr lang="en-SG" dirty="0"/>
              <a:t>Managing Daily Operations of Online Business</a:t>
            </a:r>
            <a:br>
              <a:rPr lang="en-SG" dirty="0"/>
            </a:br>
            <a:r>
              <a:rPr lang="en-SG" dirty="0"/>
              <a:t> (20 Marks)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1DCC2B-CF86-B4DF-D233-998A6AA5AEAF}"/>
              </a:ext>
            </a:extLst>
          </p:cNvPr>
          <p:cNvSpPr txBox="1">
            <a:spLocks/>
          </p:cNvSpPr>
          <p:nvPr/>
        </p:nvSpPr>
        <p:spPr>
          <a:xfrm>
            <a:off x="1129496" y="17328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dirty="0"/>
              <a:t>Marking Rubrics: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6835D7-E299-B6B4-E0A7-91A6ABC58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290616"/>
              </p:ext>
            </p:extLst>
          </p:nvPr>
        </p:nvGraphicFramePr>
        <p:xfrm>
          <a:off x="1220165" y="2746811"/>
          <a:ext cx="10515600" cy="37038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32947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588124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57568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571889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03579255"/>
                    </a:ext>
                  </a:extLst>
                </a:gridCol>
              </a:tblGrid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Criteria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Excellent (4–5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Good (3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(2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(0–1 mark)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33636948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Understanding of Case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Clear and accurate interpretation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Mostly accurate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Basic understanding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Misunderstood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1904192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Application of Concepts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Strong and relevant application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relevant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Limited application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No application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53910347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Analysis &amp; Evaluation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Insightful and well-justified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reasoning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Minimal reasoning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No analysis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195767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Creativity &amp; Problem Solving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Innovative, realistic solutions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creativity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Limited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practical ideas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546882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Clarity &amp; Organization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Clear, structured, logical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Mostly 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Somewhat unclear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Disorganized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6311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407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1722A-75E8-8B92-52CE-78B22AD91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F899-5934-A628-DF3B-45DB44FF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1920A8-5980-B8BE-7846-D1F245277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620923"/>
            <a:ext cx="653143" cy="6531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E315CBB-3369-BF7D-65F6-AEC412C3D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895950"/>
              </p:ext>
            </p:extLst>
          </p:nvPr>
        </p:nvGraphicFramePr>
        <p:xfrm>
          <a:off x="838200" y="1690688"/>
          <a:ext cx="954640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6401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554775">
                <a:tc>
                  <a:txBody>
                    <a:bodyPr/>
                    <a:lstStyle/>
                    <a:p>
                      <a:pPr lvl="0"/>
                      <a:r>
                        <a:rPr lang="en-SG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Why is it important to track stock levels?</a:t>
                      </a:r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554775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450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E4D5D-8D59-ECD1-1913-48343563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BB90-6EBC-C3B4-9EF4-D2AFC37A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23BDA3-A14A-4ACC-24D3-6A6B13276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620923"/>
            <a:ext cx="653143" cy="6531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96CF7A0-8231-A011-05B7-6E5504FBB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544011"/>
              </p:ext>
            </p:extLst>
          </p:nvPr>
        </p:nvGraphicFramePr>
        <p:xfrm>
          <a:off x="838200" y="1690688"/>
          <a:ext cx="954640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6401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554775">
                <a:tc>
                  <a:txBody>
                    <a:bodyPr/>
                    <a:lstStyle/>
                    <a:p>
                      <a:pPr lvl="0"/>
                      <a:r>
                        <a:rPr lang="en-SG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Give one example of good customer service. Assuming that the business is EcoWash.</a:t>
                      </a:r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554775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00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5FB82-EC1E-6F13-5931-712807989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CA3-AB9F-E113-0787-DF07DA25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95FE44-B33E-BD29-D3AC-D185230AA8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5709713" y="770953"/>
            <a:ext cx="772573" cy="51390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F7A1D5E-3E1F-A8A4-6253-8113FF800894}"/>
              </a:ext>
            </a:extLst>
          </p:cNvPr>
          <p:cNvSpPr txBox="1">
            <a:spLocks/>
          </p:cNvSpPr>
          <p:nvPr/>
        </p:nvSpPr>
        <p:spPr>
          <a:xfrm>
            <a:off x="838199" y="15163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/>
              <a:t>Create a new website for EcoWash Smart Laundry Service as per stated in Question 13 using Shopify. Screenshot and paste here the dashboard of the Shopify Website.  </a:t>
            </a:r>
          </a:p>
        </p:txBody>
      </p:sp>
    </p:spTree>
    <p:extLst>
      <p:ext uri="{BB962C8B-B14F-4D97-AF65-F5344CB8AC3E}">
        <p14:creationId xmlns:p14="http://schemas.microsoft.com/office/powerpoint/2010/main" val="3964177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A4C1-D22D-50C1-4A90-D4860997A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D64C-A13A-3310-AB25-28A984BF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D87F58-546E-1119-18B4-DF0EEE478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620923"/>
            <a:ext cx="653143" cy="6531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A99AD2F-11F8-DD53-D049-E855CBD3D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323494"/>
              </p:ext>
            </p:extLst>
          </p:nvPr>
        </p:nvGraphicFramePr>
        <p:xfrm>
          <a:off x="838200" y="1690688"/>
          <a:ext cx="954640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6401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554775">
                <a:tc>
                  <a:txBody>
                    <a:bodyPr/>
                    <a:lstStyle/>
                    <a:p>
                      <a:pPr lvl="0"/>
                      <a:r>
                        <a:rPr lang="en-SG" sz="2800" dirty="0"/>
                        <a:t>Why is data protection important in an online business? What are the necessary policies that EcoWash should have in its website?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554775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405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36F4C-4D0F-0D22-6C2D-86D26FA04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34FE7-CFD0-7DD5-DA2C-DBBD9B755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04" y="40730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Learning Unit 3 </a:t>
            </a:r>
            <a:br>
              <a:rPr lang="en-SG" dirty="0"/>
            </a:br>
            <a:r>
              <a:rPr lang="en-SG" dirty="0"/>
              <a:t>Managing Daily Operations of Online Business</a:t>
            </a:r>
            <a:br>
              <a:rPr lang="en-SG" dirty="0"/>
            </a:br>
            <a:r>
              <a:rPr lang="en-SG" dirty="0"/>
              <a:t> (10 Marks – Case Study)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D5AC96-3E1B-E4ED-8080-9CB2AC28FCFF}"/>
              </a:ext>
            </a:extLst>
          </p:cNvPr>
          <p:cNvSpPr txBox="1">
            <a:spLocks/>
          </p:cNvSpPr>
          <p:nvPr/>
        </p:nvSpPr>
        <p:spPr>
          <a:xfrm>
            <a:off x="838200" y="16286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/>
              <a:t>Marking Rubrics: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C612AD-4B2B-0419-B701-B87007AC135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06857"/>
          <a:ext cx="10515600" cy="37038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32947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588124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57568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571889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03579255"/>
                    </a:ext>
                  </a:extLst>
                </a:gridCol>
              </a:tblGrid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Criteria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Excellent (4–5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Good (3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(2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(0–1 mark)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33636948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Understanding of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Clear and accurate interpretation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Mostly accurate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understanding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Misunderstood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1904192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Application of Concepts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Strong and relevant application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relevant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53910347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Analysis &amp; Evaluation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Insightful and well-justified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reasoning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Minimal reasoning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analysis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195767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Creativity &amp; Problem Solving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Innovative, realistic solutions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creativity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Limited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practical ideas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546882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Clarity &amp; Organization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Clear, structured, logical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Mostly 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Somewhat unclear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Disorganized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6311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6893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6FF5-9C50-D159-2AC8-E6FF8AAD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85CA-BD1F-ADF6-D051-67CFF5F6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17   1/4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6DAD3-114D-8CE4-85FE-094832711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80" y="608013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6DF9FC-BDB1-9985-8653-B0D9FC4B5D8C}"/>
              </a:ext>
            </a:extLst>
          </p:cNvPr>
          <p:cNvSpPr txBox="1"/>
          <p:nvPr/>
        </p:nvSpPr>
        <p:spPr>
          <a:xfrm>
            <a:off x="879996" y="1407877"/>
            <a:ext cx="1030564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Read the Case Study Scenario below and answer the given questions. </a:t>
            </a:r>
          </a:p>
          <a:p>
            <a:endParaRPr lang="en-SG" sz="3200" dirty="0"/>
          </a:p>
          <a:p>
            <a:r>
              <a:rPr lang="en-SG" sz="2000" b="1" dirty="0"/>
              <a:t>Case Title: “TrendCart – Online Fashion Store”</a:t>
            </a:r>
            <a:endParaRPr lang="en-SG" sz="2000" dirty="0"/>
          </a:p>
          <a:p>
            <a:r>
              <a:rPr lang="en-SG" sz="2000" dirty="0"/>
              <a:t>Lina owns </a:t>
            </a:r>
            <a:r>
              <a:rPr lang="en-SG" sz="2000" i="1" dirty="0"/>
              <a:t>TrendCart</a:t>
            </a:r>
            <a:r>
              <a:rPr lang="en-SG" sz="2000" dirty="0"/>
              <a:t>, an online fashion store selling trendy clothes through her website and social media. Initially, her business grew quickly due to strong marketing.</a:t>
            </a:r>
          </a:p>
          <a:p>
            <a:r>
              <a:rPr lang="en-SG" sz="2000" dirty="0"/>
              <a:t>However, she now faces several operational issues:</a:t>
            </a:r>
          </a:p>
          <a:p>
            <a:endParaRPr lang="en-SG" sz="2000" dirty="0"/>
          </a:p>
          <a:p>
            <a:pPr lvl="0"/>
            <a:r>
              <a:rPr lang="en-SG" sz="2000" b="1" dirty="0"/>
              <a:t>Setup &amp; Platform</a:t>
            </a:r>
            <a:r>
              <a:rPr lang="en-SG" sz="2000" dirty="0"/>
              <a:t>: Her website crashes during peak traffic periods </a:t>
            </a:r>
          </a:p>
          <a:p>
            <a:pPr lvl="0"/>
            <a:r>
              <a:rPr lang="en-SG" sz="2000" b="1" dirty="0"/>
              <a:t>Inventory &amp; Supply</a:t>
            </a:r>
            <a:r>
              <a:rPr lang="en-SG" sz="2000" dirty="0"/>
              <a:t>: Customers often order items that are out of stock </a:t>
            </a:r>
          </a:p>
          <a:p>
            <a:pPr lvl="0"/>
            <a:r>
              <a:rPr lang="en-SG" sz="2000" b="1" dirty="0"/>
              <a:t>Customer Service</a:t>
            </a:r>
            <a:r>
              <a:rPr lang="en-SG" sz="2000" dirty="0"/>
              <a:t>: Many complaints about late replies and poor communication </a:t>
            </a:r>
          </a:p>
          <a:p>
            <a:pPr lvl="0"/>
            <a:r>
              <a:rPr lang="en-SG" sz="2000" b="1" dirty="0"/>
              <a:t>Legal Compliance</a:t>
            </a:r>
            <a:r>
              <a:rPr lang="en-SG" sz="2000" dirty="0"/>
              <a:t>: She does not clearly state refund policies or data protection terms </a:t>
            </a:r>
          </a:p>
          <a:p>
            <a:pPr lvl="0"/>
            <a:endParaRPr lang="en-SG" sz="2000" dirty="0"/>
          </a:p>
          <a:p>
            <a:r>
              <a:rPr lang="en-SG" sz="2000" dirty="0"/>
              <a:t>As a result, customer satisfaction has dropped, and sales are declining.</a:t>
            </a:r>
            <a:endParaRPr lang="en-SG" sz="3600" dirty="0"/>
          </a:p>
          <a:p>
            <a:endParaRPr lang="en-SG" sz="3200" dirty="0"/>
          </a:p>
        </p:txBody>
      </p:sp>
    </p:spTree>
    <p:extLst>
      <p:ext uri="{BB962C8B-B14F-4D97-AF65-F5344CB8AC3E}">
        <p14:creationId xmlns:p14="http://schemas.microsoft.com/office/powerpoint/2010/main" val="3067751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BDC52-9BCB-DAAC-D2FE-0ACA72FFB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DB5CC-C529-E297-FCF5-75D24EB2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17   2/4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E20AC2-3028-2D38-6B7A-5CA5DAE4C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80" y="608013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13A964-5529-3DBD-3BEE-78DA81DBF864}"/>
              </a:ext>
            </a:extLst>
          </p:cNvPr>
          <p:cNvSpPr txBox="1"/>
          <p:nvPr/>
        </p:nvSpPr>
        <p:spPr>
          <a:xfrm>
            <a:off x="838200" y="1504044"/>
            <a:ext cx="1030564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Case Study Question 1:</a:t>
            </a:r>
          </a:p>
          <a:p>
            <a:endParaRPr lang="en-SG" sz="3200" dirty="0"/>
          </a:p>
          <a:p>
            <a:r>
              <a:rPr lang="en-SG" sz="3200" dirty="0"/>
              <a:t>Identify two problems faced by TrendCart.  </a:t>
            </a:r>
          </a:p>
          <a:p>
            <a:endParaRPr lang="en-SG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D01B81-A30E-521D-7AC8-DF9A2B68F4DA}"/>
              </a:ext>
            </a:extLst>
          </p:cNvPr>
          <p:cNvGraphicFramePr>
            <a:graphicFrameLocks noGrp="1"/>
          </p:cNvGraphicFramePr>
          <p:nvPr/>
        </p:nvGraphicFramePr>
        <p:xfrm>
          <a:off x="990278" y="3429000"/>
          <a:ext cx="971630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6303">
                  <a:extLst>
                    <a:ext uri="{9D8B030D-6E8A-4147-A177-3AD203B41FA5}">
                      <a16:colId xmlns:a16="http://schemas.microsoft.com/office/drawing/2014/main" val="575264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Answer: </a:t>
                      </a:r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344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5375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4CD1D-2DDD-48F2-0059-0E388BE28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56C1-84B8-EDDD-30D5-4BBFDDB5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17   3/4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D922D-547B-66AC-23E8-B418CF15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80" y="608013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A69AA0-3645-75BA-9C73-9720CDB44C32}"/>
              </a:ext>
            </a:extLst>
          </p:cNvPr>
          <p:cNvSpPr txBox="1"/>
          <p:nvPr/>
        </p:nvSpPr>
        <p:spPr>
          <a:xfrm>
            <a:off x="838200" y="1504044"/>
            <a:ext cx="1030564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Case Study Question 2: </a:t>
            </a:r>
          </a:p>
          <a:p>
            <a:endParaRPr lang="en-SG" sz="3200" dirty="0"/>
          </a:p>
          <a:p>
            <a:r>
              <a:rPr lang="en-SG" sz="3200" dirty="0"/>
              <a:t>How can Lina improve the performance of its website?</a:t>
            </a:r>
          </a:p>
          <a:p>
            <a:endParaRPr lang="en-SG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CEE1EA-0434-192A-9001-DD845BB25552}"/>
              </a:ext>
            </a:extLst>
          </p:cNvPr>
          <p:cNvGraphicFramePr>
            <a:graphicFrameLocks noGrp="1"/>
          </p:cNvGraphicFramePr>
          <p:nvPr/>
        </p:nvGraphicFramePr>
        <p:xfrm>
          <a:off x="990278" y="3429000"/>
          <a:ext cx="971630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6303">
                  <a:extLst>
                    <a:ext uri="{9D8B030D-6E8A-4147-A177-3AD203B41FA5}">
                      <a16:colId xmlns:a16="http://schemas.microsoft.com/office/drawing/2014/main" val="575264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Answer: </a:t>
                      </a:r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344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928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E1CC-4D57-D92E-58EB-7F3AF22F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29736-38A3-4571-4486-6ADFD1A6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17   4/4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1C663-9ABF-1EE0-9B09-B51E77BA5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580" y="608013"/>
            <a:ext cx="653143" cy="653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FE577F-A4AB-637E-FA7A-0863D8E98DCE}"/>
              </a:ext>
            </a:extLst>
          </p:cNvPr>
          <p:cNvSpPr txBox="1"/>
          <p:nvPr/>
        </p:nvSpPr>
        <p:spPr>
          <a:xfrm>
            <a:off x="838200" y="1504044"/>
            <a:ext cx="1030564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Case Study Question 3: </a:t>
            </a:r>
          </a:p>
          <a:p>
            <a:endParaRPr lang="en-SG" sz="3200" dirty="0"/>
          </a:p>
          <a:p>
            <a:r>
              <a:rPr lang="en-SG" sz="3200" dirty="0"/>
              <a:t>Evaluate which problem Lina should prioritize first and why.</a:t>
            </a:r>
          </a:p>
          <a:p>
            <a:endParaRPr lang="en-SG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D68EED-EAE7-D629-69CF-6FC8D1E3D6D1}"/>
              </a:ext>
            </a:extLst>
          </p:cNvPr>
          <p:cNvGraphicFramePr>
            <a:graphicFrameLocks noGrp="1"/>
          </p:cNvGraphicFramePr>
          <p:nvPr/>
        </p:nvGraphicFramePr>
        <p:xfrm>
          <a:off x="990278" y="3429000"/>
          <a:ext cx="971630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6303">
                  <a:extLst>
                    <a:ext uri="{9D8B030D-6E8A-4147-A177-3AD203B41FA5}">
                      <a16:colId xmlns:a16="http://schemas.microsoft.com/office/drawing/2014/main" val="575264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Answer: </a:t>
                      </a:r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344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341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M Template.potx" id="{EE2E57E3-6100-46CB-8CA4-89786D31FC37}" vid="{8440CCFB-D5BC-4FBA-BEDA-04DEB9D061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Genetic PowerPoint Template</Template>
  <TotalTime>3857</TotalTime>
  <Words>1624</Words>
  <Application>Microsoft Office PowerPoint</Application>
  <PresentationFormat>Widescreen</PresentationFormat>
  <Paragraphs>453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Calibri</vt:lpstr>
      <vt:lpstr>Calibri Light</vt:lpstr>
      <vt:lpstr>Office Theme</vt:lpstr>
      <vt:lpstr>BM2005 – Entrepreneurship and Business Management</vt:lpstr>
      <vt:lpstr>Important : Read the Instructions Carefully </vt:lpstr>
      <vt:lpstr>Learning Unit 1  Fundamentals of Entrepreneurship  (20 Marks)</vt:lpstr>
      <vt:lpstr>Question 1</vt:lpstr>
      <vt:lpstr>Question 2</vt:lpstr>
      <vt:lpstr>Question 3</vt:lpstr>
      <vt:lpstr>Question 4</vt:lpstr>
      <vt:lpstr>Learning Unit 1  Fundamentals of Entrepreneurship  (10 Marks – Case Study)</vt:lpstr>
      <vt:lpstr>Question 5   1/4</vt:lpstr>
      <vt:lpstr>Question 5   2/4</vt:lpstr>
      <vt:lpstr>Question 5   3/4</vt:lpstr>
      <vt:lpstr>Question 5   4/4</vt:lpstr>
      <vt:lpstr>Learning Unit 2 Developing a Business Plan  (30 Marks)</vt:lpstr>
      <vt:lpstr>Question 6</vt:lpstr>
      <vt:lpstr>Question 7</vt:lpstr>
      <vt:lpstr>Question 8</vt:lpstr>
      <vt:lpstr>Question 9</vt:lpstr>
      <vt:lpstr>Question 10</vt:lpstr>
      <vt:lpstr>Question 11</vt:lpstr>
      <vt:lpstr>Learning Unit 2  Developing a Business Plan  (10 Marks – Case Study)</vt:lpstr>
      <vt:lpstr>Question 13   1/4</vt:lpstr>
      <vt:lpstr>Question 12   2/4</vt:lpstr>
      <vt:lpstr>Question 12   3/4</vt:lpstr>
      <vt:lpstr>Question 12   4/4</vt:lpstr>
      <vt:lpstr>Learning Unit 3 Managing Daily Operations of Online Business  (20 Marks)</vt:lpstr>
      <vt:lpstr>Question 13</vt:lpstr>
      <vt:lpstr>Question 14</vt:lpstr>
      <vt:lpstr>Question 15</vt:lpstr>
      <vt:lpstr>Question 16</vt:lpstr>
      <vt:lpstr>Learning Unit 3  Managing Daily Operations of Online Business  (10 Marks – Case Study)</vt:lpstr>
      <vt:lpstr>Question 17   1/4</vt:lpstr>
      <vt:lpstr>Question 17   2/4</vt:lpstr>
      <vt:lpstr>Question 17   3/4</vt:lpstr>
      <vt:lpstr>Question 17   4/4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and Marketing</dc:title>
  <dc:creator>Mikey</dc:creator>
  <cp:lastModifiedBy>Marie Chris Soque</cp:lastModifiedBy>
  <cp:revision>389</cp:revision>
  <dcterms:created xsi:type="dcterms:W3CDTF">2020-05-13T02:52:06Z</dcterms:created>
  <dcterms:modified xsi:type="dcterms:W3CDTF">2026-04-17T04:21:54Z</dcterms:modified>
</cp:coreProperties>
</file>